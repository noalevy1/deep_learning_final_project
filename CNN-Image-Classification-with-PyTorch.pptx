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DM Sans Semi Bold"/>
      <p:regular r:id="rId17"/>
    </p:embeddedFont>
    <p:embeddedFont>
      <p:font typeface="DM Sans Semi Bold"/>
      <p:regular r:id="rId18"/>
    </p:embeddedFont>
    <p:embeddedFont>
      <p:font typeface="DM Sans Semi Bold"/>
      <p:regular r:id="rId19"/>
    </p:embeddedFont>
    <p:embeddedFont>
      <p:font typeface="DM Sans Semi Bold"/>
      <p:regular r:id="rId20"/>
    </p:embeddedFont>
    <p:embeddedFont>
      <p:font typeface="Inter Medium"/>
      <p:regular r:id="rId21"/>
    </p:embeddedFont>
    <p:embeddedFont>
      <p:font typeface="Inter Medium"/>
      <p:regular r:id="rId22"/>
    </p:embeddedFont>
    <p:embeddedFont>
      <p:font typeface="Inter Medium"/>
      <p:regular r:id="rId23"/>
    </p:embeddedFont>
    <p:embeddedFont>
      <p:font typeface="Inter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2293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CNN Image Classification with PyTorch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31218"/>
            <a:ext cx="39810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Final Project – Deep Learning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72571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John Doe, Jane Smith, Alex Johnson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34376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Course: Introduction to Deep Learning, Fall 2024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809" y="537210"/>
            <a:ext cx="5383292" cy="487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Problem &amp; Dataset Overview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141809" y="1493520"/>
            <a:ext cx="5935266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Binary image classification (2 classes)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1809" y="1874163"/>
            <a:ext cx="5935266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 dataset: ~1000 images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1809" y="2254806"/>
            <a:ext cx="5935266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Train / Validation / Test split: 70/15/15%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1809" y="2635448"/>
            <a:ext cx="5935266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Goal: Compare architectures, regularization, and transfer learning effectiveness.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0945" y="1537454"/>
            <a:ext cx="5935266" cy="59352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51773"/>
            <a:ext cx="608576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Baseline Model: Simple CNN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280190" y="1758910"/>
            <a:ext cx="3664744" cy="3200757"/>
          </a:xfrm>
          <a:prstGeom prst="roundRect">
            <a:avLst>
              <a:gd name="adj" fmla="val 1063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19857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Architecture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2476143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Simple Convolutional Neural Network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07004" y="3281243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Minimal layers for initial evaluation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507004" y="4086344"/>
            <a:ext cx="3211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ReLU activation functions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748" y="1758910"/>
            <a:ext cx="3664863" cy="3200757"/>
          </a:xfrm>
          <a:prstGeom prst="roundRect">
            <a:avLst>
              <a:gd name="adj" fmla="val 1063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10398562" y="1985724"/>
            <a:ext cx="30808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Optimizer Comparison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398562" y="2476143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Adam: Stable convergence, high accuracy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98562" y="3644146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SGD: Highly sensitive to learning rate; unstable at sub-optimal LRs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5186482"/>
            <a:ext cx="7556421" cy="2191345"/>
          </a:xfrm>
          <a:prstGeom prst="roundRect">
            <a:avLst>
              <a:gd name="adj" fmla="val 1553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6507004" y="54132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Baseline Selected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07004" y="5903714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Architecture: Simple CNN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507004" y="634591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Optimizer: Adam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507004" y="678811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Learning Rate: 0.003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2333" y="1043226"/>
            <a:ext cx="6213038" cy="408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Enhancement with Batch Normalization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572333" y="1697236"/>
            <a:ext cx="7999333" cy="124968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9473" y="1697236"/>
            <a:ext cx="91440" cy="1249680"/>
          </a:xfrm>
          <a:prstGeom prst="roundRect">
            <a:avLst>
              <a:gd name="adj" fmla="val 26827"/>
            </a:avLst>
          </a:prstGeom>
          <a:solidFill>
            <a:srgbClr val="1C9770"/>
          </a:solidFill>
          <a:ln/>
        </p:spPr>
      </p:sp>
      <p:sp>
        <p:nvSpPr>
          <p:cNvPr id="6" name="Text 3"/>
          <p:cNvSpPr/>
          <p:nvPr/>
        </p:nvSpPr>
        <p:spPr>
          <a:xfrm>
            <a:off x="827246" y="1883569"/>
            <a:ext cx="2044065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Experiment Design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7246" y="2237184"/>
            <a:ext cx="7558088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Compared baseline model against an identical architecture incorporating Batch Normalization layers after each convolutional block.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72333" y="3110389"/>
            <a:ext cx="7999333" cy="124968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9473" y="3110389"/>
            <a:ext cx="91440" cy="1249680"/>
          </a:xfrm>
          <a:prstGeom prst="roundRect">
            <a:avLst>
              <a:gd name="adj" fmla="val 26827"/>
            </a:avLst>
          </a:prstGeom>
          <a:solidFill>
            <a:srgbClr val="1C9770"/>
          </a:solidFill>
          <a:ln/>
        </p:spPr>
      </p:sp>
      <p:sp>
        <p:nvSpPr>
          <p:cNvPr id="10" name="Text 7"/>
          <p:cNvSpPr/>
          <p:nvPr/>
        </p:nvSpPr>
        <p:spPr>
          <a:xfrm>
            <a:off x="827246" y="3296722"/>
            <a:ext cx="2044065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Validation Accuracy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7246" y="3650337"/>
            <a:ext cx="7558088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Both configurations achieved comparable best validation accuracy, suggesting BN didn't necessarily boost peak performance on the validation set.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72333" y="4523542"/>
            <a:ext cx="7999333" cy="124968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9473" y="4523542"/>
            <a:ext cx="91440" cy="1249680"/>
          </a:xfrm>
          <a:prstGeom prst="roundRect">
            <a:avLst>
              <a:gd name="adj" fmla="val 26827"/>
            </a:avLst>
          </a:prstGeom>
          <a:solidFill>
            <a:srgbClr val="1C9770"/>
          </a:solidFill>
          <a:ln/>
        </p:spPr>
      </p:sp>
      <p:sp>
        <p:nvSpPr>
          <p:cNvPr id="14" name="Text 11"/>
          <p:cNvSpPr/>
          <p:nvPr/>
        </p:nvSpPr>
        <p:spPr>
          <a:xfrm>
            <a:off x="827246" y="4709874"/>
            <a:ext cx="2777490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Test Accuracy Improvement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27246" y="5063490"/>
            <a:ext cx="7558088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Batch Normalization improved test accuracy to 1.0, indicating superior generalization capabilities on unseen data.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72333" y="5936694"/>
            <a:ext cx="7999333" cy="124968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9473" y="5936694"/>
            <a:ext cx="91440" cy="1249680"/>
          </a:xfrm>
          <a:prstGeom prst="roundRect">
            <a:avLst>
              <a:gd name="adj" fmla="val 26827"/>
            </a:avLst>
          </a:prstGeom>
          <a:solidFill>
            <a:srgbClr val="1C9770"/>
          </a:solidFill>
          <a:ln/>
        </p:spPr>
      </p:sp>
      <p:sp>
        <p:nvSpPr>
          <p:cNvPr id="18" name="Text 15"/>
          <p:cNvSpPr/>
          <p:nvPr/>
        </p:nvSpPr>
        <p:spPr>
          <a:xfrm>
            <a:off x="827246" y="6123027"/>
            <a:ext cx="2044065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7246" y="6476643"/>
            <a:ext cx="7558088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BN introduced initial training noise but resulted in a more robust model. This confirms its role in improving generalization, rather than just accelerating convergence.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53483" y="449342"/>
            <a:ext cx="6033254" cy="40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Regularization and Data Augmentation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153483" y="1265277"/>
            <a:ext cx="3241238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Weight Decay (L2 Regularization)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53483" y="1683425"/>
            <a:ext cx="4962525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significant change in final accuracy.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153483" y="2001560"/>
            <a:ext cx="4962525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Improved training stability across epochs.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53483" y="2319695"/>
            <a:ext cx="4962525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Selected optimal value: 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wd=1e-4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153483" y="2766774"/>
            <a:ext cx="2040136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Dropout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53483" y="3184922"/>
            <a:ext cx="4962525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Probability 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p=0.2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enhanced training stability.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53483" y="3525917"/>
            <a:ext cx="4962525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Mitigated overfitting without accuracy degradation.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153483" y="3950137"/>
            <a:ext cx="2040136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 Augmentation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53483" y="4368284"/>
            <a:ext cx="4962525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Strong augmentation: slowed convergence considerably.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53483" y="4686419"/>
            <a:ext cx="4962525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Slightly detrimental to overall test accuracy.</a:t>
            </a:r>
            <a:endParaRPr lang="en-US" sz="12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1773" y="1285756"/>
            <a:ext cx="4962525" cy="496252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521773" y="6431875"/>
            <a:ext cx="2040136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521773" y="6850023"/>
            <a:ext cx="4962525" cy="78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Mild regularization (Weight Decay, Dropout) proved beneficial for stability and generalization. Strong data augmentation was not advantageous for this dataset and task.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809" y="537210"/>
            <a:ext cx="7890510" cy="487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Transfer Learning: Pretraining on CIFAR-10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809" y="1537454"/>
            <a:ext cx="5935266" cy="59352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60945" y="1493520"/>
            <a:ext cx="5935266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 CNN architecture pretrained on CIFAR-10 dataset.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560945" y="1874163"/>
            <a:ext cx="5935266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Objective: Enable learning of generic visual features (edges, textures, simple shapes).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560945" y="2567226"/>
            <a:ext cx="5935266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Achieved ~59% validation accuracy on CIFAR-10.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60945" y="2947868"/>
            <a:ext cx="5935266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pretrained model served as an initialization point for subsequent fine-tuning on our custom dataset.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4339" y="666512"/>
            <a:ext cx="5778103" cy="469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Fine-tuning the CIFAR-10 Model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6144339" y="1418392"/>
            <a:ext cx="751999" cy="1383983"/>
          </a:xfrm>
          <a:prstGeom prst="roundRect">
            <a:avLst>
              <a:gd name="adj" fmla="val 360015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6379369" y="1934170"/>
            <a:ext cx="28194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84338" y="1606391"/>
            <a:ext cx="2350056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Initialization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084338" y="2012871"/>
            <a:ext cx="6888123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CIFAR-10 pretrained CNN was used as the starting weight configuration for training on our custom dataset.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44339" y="2990374"/>
            <a:ext cx="751999" cy="1383983"/>
          </a:xfrm>
          <a:prstGeom prst="roundRect">
            <a:avLst>
              <a:gd name="adj" fmla="val 360015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6379369" y="3506153"/>
            <a:ext cx="28194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084338" y="3178373"/>
            <a:ext cx="2350056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Convergence Speed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084338" y="3584853"/>
            <a:ext cx="6888123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Demonstrated significantly faster convergence rates compared to training models from scratch, indicating effective transfer of learned features.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144339" y="4562356"/>
            <a:ext cx="751999" cy="1127998"/>
          </a:xfrm>
          <a:prstGeom prst="roundRect">
            <a:avLst>
              <a:gd name="adj" fmla="val 360015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6379369" y="4950143"/>
            <a:ext cx="28194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084338" y="4750356"/>
            <a:ext cx="2350056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Final Accuracy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084338" y="5156835"/>
            <a:ext cx="6888123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Achieved a final test accuracy of approximately 0.90.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44339" y="5878354"/>
            <a:ext cx="751999" cy="1684734"/>
          </a:xfrm>
          <a:prstGeom prst="roundRect">
            <a:avLst>
              <a:gd name="adj" fmla="val 360015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6379369" y="6544508"/>
            <a:ext cx="28194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084338" y="6066353"/>
            <a:ext cx="2350056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Limitation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7084338" y="6472833"/>
            <a:ext cx="6888123" cy="90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overall accuracy improvement was limited by the relatively small size and simplicity of our custom dataset, capping the benefit of comprehensive feature learning.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3573"/>
            <a:ext cx="706850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ResNet50 with Frozen Backbone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07478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Pretrained ResNet50 model loaded from ImageNet weights.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516981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Feature extraction layers (backbone) were frozen to prevent weight updates during training.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322082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Only the final classification head (fully connected layers) was trained on our custom dataset.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127183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Standard ImageNet normalization and 224x224 input resolution applied.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32283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Achieved perfect validation and test accuracy of 1.0, demonstrating strong high-level feature transfer.</a:t>
            </a:r>
            <a:endParaRPr lang="en-US" sz="1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125861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916" y="1044893"/>
            <a:ext cx="4882158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Fine-tuning ResNet50: Unfrozen Layers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72916" y="1757482"/>
            <a:ext cx="8198167" cy="964049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72916" y="1742242"/>
            <a:ext cx="8198167" cy="60960"/>
          </a:xfrm>
          <a:prstGeom prst="roundRect">
            <a:avLst>
              <a:gd name="adj" fmla="val 31894"/>
            </a:avLst>
          </a:prstGeom>
          <a:solidFill>
            <a:srgbClr val="1C9770"/>
          </a:solidFill>
          <a:ln/>
        </p:spPr>
      </p:sp>
      <p:sp>
        <p:nvSpPr>
          <p:cNvPr id="6" name="Shape 3"/>
          <p:cNvSpPr/>
          <p:nvPr/>
        </p:nvSpPr>
        <p:spPr>
          <a:xfrm>
            <a:off x="4377630" y="1563172"/>
            <a:ext cx="388739" cy="388739"/>
          </a:xfrm>
          <a:prstGeom prst="roundRect">
            <a:avLst>
              <a:gd name="adj" fmla="val 235222"/>
            </a:avLst>
          </a:prstGeom>
          <a:solidFill>
            <a:srgbClr val="1C9770"/>
          </a:solidFill>
          <a:ln/>
        </p:spPr>
      </p:sp>
      <p:sp>
        <p:nvSpPr>
          <p:cNvPr id="7" name="Text 4"/>
          <p:cNvSpPr/>
          <p:nvPr/>
        </p:nvSpPr>
        <p:spPr>
          <a:xfrm>
            <a:off x="4494193" y="1660327"/>
            <a:ext cx="15549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7696" y="2081451"/>
            <a:ext cx="1620083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Unfreezing Layers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7696" y="2361724"/>
            <a:ext cx="7908608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Experiment involved unfreezing 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layer4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and the final fully connected layer (FC) of the ResNet50 model.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2916" y="3045381"/>
            <a:ext cx="8198167" cy="1163836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72916" y="3030141"/>
            <a:ext cx="8198167" cy="60960"/>
          </a:xfrm>
          <a:prstGeom prst="roundRect">
            <a:avLst>
              <a:gd name="adj" fmla="val 31894"/>
            </a:avLst>
          </a:prstGeom>
          <a:solidFill>
            <a:srgbClr val="1C9770"/>
          </a:solidFill>
          <a:ln/>
        </p:spPr>
      </p:sp>
      <p:sp>
        <p:nvSpPr>
          <p:cNvPr id="12" name="Shape 9"/>
          <p:cNvSpPr/>
          <p:nvPr/>
        </p:nvSpPr>
        <p:spPr>
          <a:xfrm>
            <a:off x="4377630" y="2851071"/>
            <a:ext cx="388739" cy="388739"/>
          </a:xfrm>
          <a:prstGeom prst="roundRect">
            <a:avLst>
              <a:gd name="adj" fmla="val 235222"/>
            </a:avLst>
          </a:prstGeom>
          <a:solidFill>
            <a:srgbClr val="1C9770"/>
          </a:solidFill>
          <a:ln/>
        </p:spPr>
      </p:sp>
      <p:sp>
        <p:nvSpPr>
          <p:cNvPr id="13" name="Text 10"/>
          <p:cNvSpPr/>
          <p:nvPr/>
        </p:nvSpPr>
        <p:spPr>
          <a:xfrm>
            <a:off x="4494193" y="2948226"/>
            <a:ext cx="15549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7696" y="3369350"/>
            <a:ext cx="2305526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Discriminative Learning Rates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17696" y="3649623"/>
            <a:ext cx="7908608" cy="414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Applied lower learning rates to earlier, unfrozen layers and higher rates to the newly trained classification head, adapting to feature abstraction levels.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2916" y="4533067"/>
            <a:ext cx="8198167" cy="1163836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72916" y="4517827"/>
            <a:ext cx="8198167" cy="60960"/>
          </a:xfrm>
          <a:prstGeom prst="roundRect">
            <a:avLst>
              <a:gd name="adj" fmla="val 31894"/>
            </a:avLst>
          </a:prstGeom>
          <a:solidFill>
            <a:srgbClr val="1C9770"/>
          </a:solidFill>
          <a:ln/>
        </p:spPr>
      </p:sp>
      <p:sp>
        <p:nvSpPr>
          <p:cNvPr id="18" name="Shape 15"/>
          <p:cNvSpPr/>
          <p:nvPr/>
        </p:nvSpPr>
        <p:spPr>
          <a:xfrm>
            <a:off x="4377630" y="4338757"/>
            <a:ext cx="388739" cy="388739"/>
          </a:xfrm>
          <a:prstGeom prst="roundRect">
            <a:avLst>
              <a:gd name="adj" fmla="val 235222"/>
            </a:avLst>
          </a:prstGeom>
          <a:solidFill>
            <a:srgbClr val="1C9770"/>
          </a:solidFill>
          <a:ln/>
        </p:spPr>
      </p:sp>
      <p:sp>
        <p:nvSpPr>
          <p:cNvPr id="19" name="Text 16"/>
          <p:cNvSpPr/>
          <p:nvPr/>
        </p:nvSpPr>
        <p:spPr>
          <a:xfrm>
            <a:off x="4494193" y="4435912"/>
            <a:ext cx="15549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7696" y="4857036"/>
            <a:ext cx="2539365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Performance (No Augmentation)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17696" y="5137309"/>
            <a:ext cx="7908608" cy="414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Without data augmentation, the model achieved a test accuracy of 1.0, indicating precise adaptation to the dataset without introduced variance.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2916" y="6020753"/>
            <a:ext cx="8198167" cy="1163836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472916" y="6005513"/>
            <a:ext cx="8198167" cy="60960"/>
          </a:xfrm>
          <a:prstGeom prst="roundRect">
            <a:avLst>
              <a:gd name="adj" fmla="val 31894"/>
            </a:avLst>
          </a:prstGeom>
          <a:solidFill>
            <a:srgbClr val="1C9770"/>
          </a:solidFill>
          <a:ln/>
        </p:spPr>
      </p:sp>
      <p:sp>
        <p:nvSpPr>
          <p:cNvPr id="24" name="Shape 21"/>
          <p:cNvSpPr/>
          <p:nvPr/>
        </p:nvSpPr>
        <p:spPr>
          <a:xfrm>
            <a:off x="4377630" y="5826443"/>
            <a:ext cx="388739" cy="388739"/>
          </a:xfrm>
          <a:prstGeom prst="roundRect">
            <a:avLst>
              <a:gd name="adj" fmla="val 235222"/>
            </a:avLst>
          </a:prstGeom>
          <a:solidFill>
            <a:srgbClr val="1C9770"/>
          </a:solidFill>
          <a:ln/>
        </p:spPr>
      </p:sp>
      <p:sp>
        <p:nvSpPr>
          <p:cNvPr id="25" name="Text 22"/>
          <p:cNvSpPr/>
          <p:nvPr/>
        </p:nvSpPr>
        <p:spPr>
          <a:xfrm>
            <a:off x="4494193" y="5923598"/>
            <a:ext cx="15549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17696" y="6344722"/>
            <a:ext cx="2842974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Performance (Strong Augmentation)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17696" y="6624995"/>
            <a:ext cx="7908608" cy="414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With strong data augmentation, test accuracy dropped to approximately 0.93, suggesting that aggressive augmentation hurt generalization for this specific dataset and model combination.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5375"/>
            <a:ext cx="570345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Conclusions &amp; Limitations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115979"/>
            <a:ext cx="4196358" cy="2758559"/>
          </a:xfrm>
          <a:prstGeom prst="roundRect">
            <a:avLst>
              <a:gd name="adj" fmla="val 19734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3427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CNN Efficacy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2833211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Convolutional Neural Networks exhibit exceptional performance on the custom binary classification task.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115979"/>
            <a:ext cx="4196358" cy="2758559"/>
          </a:xfrm>
          <a:prstGeom prst="roundRect">
            <a:avLst>
              <a:gd name="adj" fmla="val 19734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2342793"/>
            <a:ext cx="34053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Transfer Learning Impact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2833211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Transfer learning significantly accelerates model convergence and boosts overall performance, particularly with robust pretrained models like ResNet50.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115979"/>
            <a:ext cx="4196358" cy="2758559"/>
          </a:xfrm>
          <a:prstGeom prst="roundRect">
            <a:avLst>
              <a:gd name="adj" fmla="val 19734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2342793"/>
            <a:ext cx="30961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Augmentation Caution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2833211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Strong data augmentation is not universally beneficial; for small, relatively simple datasets, it can hinder generalization.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01352"/>
            <a:ext cx="6407944" cy="2032754"/>
          </a:xfrm>
          <a:prstGeom prst="roundRect">
            <a:avLst>
              <a:gd name="adj" fmla="val 26781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20604" y="5328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0604" y="5818584"/>
            <a:ext cx="59543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project's scope was limited by small validation/test sets and the potential simplicity of the task for highly complex models.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5101352"/>
            <a:ext cx="6407944" cy="2032754"/>
          </a:xfrm>
          <a:prstGeom prst="roundRect">
            <a:avLst>
              <a:gd name="adj" fmla="val 26781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655362" y="5328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55362" y="5818584"/>
            <a:ext cx="59543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Exploring larger, more diverse datasets and implementing cross-validation techniques are critical next steps for robust evaluation.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2026-01-19T19:34:43Z</dcterms:created>
  <dcterms:modified xsi:type="dcterms:W3CDTF">2026-01-19T19:34:43Z</dcterms:modified>
</cp:coreProperties>
</file>